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page1_emble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43000"/>
            <a:ext cx="4572000" cy="5428822"/>
          </a:xfrm>
          <a:prstGeom prst="rect">
            <a:avLst/>
          </a:prstGeom>
        </p:spPr>
      </p:pic>
      <p:pic>
        <p:nvPicPr>
          <p:cNvPr id="3" name="Picture 2" descr="sih_2026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64592"/>
            <a:ext cx="1463040" cy="7242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"/>
            <a:ext cx="9326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Georgia"/>
              </a:defRPr>
            </a:pPr>
            <a: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217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500">
                <a:solidFill>
                  <a:srgbClr val="1F4E79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Segoe UI"/>
              </a:rPr>
              <a:t>Problem Statement ID – </a:t>
            </a:r>
            <a:r>
              <a:rPr b="1" sz="1500">
                <a:solidFill>
                  <a:srgbClr val="1F4E79"/>
                </a:solidFill>
                <a:latin typeface="Segoe UI"/>
              </a:rPr>
              <a:t>SIH26188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F4E79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Segoe UI"/>
              </a:rPr>
              <a:t>Problem Statement Title- </a:t>
            </a:r>
            <a:r>
              <a:rPr b="0" sz="1500">
                <a:solidFill>
                  <a:srgbClr val="1E293B"/>
                </a:solidFill>
                <a:latin typeface="Segoe UI"/>
              </a:rPr>
              <a:t>AI-Based Fake Identity &amp; Document Screening System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F4E79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Segoe UI"/>
              </a:rPr>
              <a:t>Theme- </a:t>
            </a:r>
            <a:r>
              <a:rPr b="0" sz="1500">
                <a:solidFill>
                  <a:srgbClr val="1E293B"/>
                </a:solidFill>
                <a:latin typeface="Segoe UI"/>
              </a:rPr>
              <a:t>Blockchain &amp; Cybersecurity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F4E79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Segoe UI"/>
              </a:rPr>
              <a:t>PS Category- Software/Hardware </a:t>
            </a:r>
            <a:r>
              <a:rPr b="0" sz="1500">
                <a:solidFill>
                  <a:srgbClr val="1E293B"/>
                </a:solidFill>
                <a:latin typeface="Segoe UI"/>
              </a:rPr>
              <a:t>Software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F4E79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Segoe UI"/>
              </a:rPr>
              <a:t>Team ID- </a:t>
            </a:r>
            <a:r>
              <a:rPr b="1" sz="1500">
                <a:solidFill>
                  <a:srgbClr val="1F4E79"/>
                </a:solidFill>
                <a:latin typeface="Segoe UI"/>
              </a:rPr>
              <a:t>SIH-S-B1-148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F4E79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  <a:latin typeface="Segoe UI"/>
              </a:rPr>
              <a:t>Team Name (Registered on portal) </a:t>
            </a:r>
            <a:r>
              <a:rPr b="1" sz="1500">
                <a:solidFill>
                  <a:srgbClr val="1F4E79"/>
                </a:solidFill>
                <a:latin typeface="Segoe UI"/>
              </a:rPr>
              <a:t>Asterix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6217920" cy="8686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500" b="1">
                <a:solidFill>
                  <a:srgbClr val="1A365D"/>
                </a:solidFill>
                <a:latin typeface="Segoe UI"/>
              </a:defRPr>
            </a:pPr>
            <a:r>
              <a:t>Project Name: DocuShield AI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AI-Based Fake Identity &amp; Multimodal Document Forensic Screening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22860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Team</a:t>
            </a:r>
          </a:p>
          <a:p>
            <a:pPr algn="ctr">
              <a:defRPr sz="1200" b="1">
                <a:solidFill>
                  <a:srgbClr val="1A365D"/>
                </a:solidFill>
                <a:latin typeface="Segoe UI"/>
              </a:defRPr>
            </a:pPr>
            <a:r>
              <a:t>Asterix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SIH-S-B1-148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"/>
            <a:ext cx="853409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IDEA TITLE: DOCUSHIELD AI</a:t>
            </a:r>
          </a:p>
        </p:txBody>
      </p:sp>
      <p:pic>
        <p:nvPicPr>
          <p:cNvPr id="4" name="Picture 3" descr="sih_2026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37160"/>
            <a:ext cx="1280160" cy="6336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6437376"/>
            <a:ext cx="6705295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6400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Segoe UI"/>
              </a:defRPr>
            </a:pPr>
            <a:r>
              <a:t>• Proposed Solution (Describe your Idea/Solution/Prototype)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7295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300" b="1">
                <a:solidFill>
                  <a:srgbClr val="1A365D"/>
                </a:solidFill>
                <a:latin typeface="Segoe UI"/>
              </a:defRPr>
            </a:pPr>
            <a:r>
              <a:t>• Detailed explanation of the proposed solution: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– DocuShield AI is an automated, multimodal forensic screening platform built to verify document authenticity across 5 core identity categories: Passports, Visas, National ID (Aadhaar/PAN), Driving Licences, and Permits.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– Operates a synchronized Dual-Engine Architecture: Engine A validates text, dates, and mathematical checksums (ICAO Doc 9303 MRZ, Verhoeff D5 algorithm), while Engine B performs digital image forensics (JPEG Error Level Analysis, Copy-Move cloning detection, Typography sharpness, and EXIF software signatures).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99232"/>
            <a:ext cx="548640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A365D"/>
                </a:solidFill>
                <a:latin typeface="Segoe UI"/>
              </a:defRPr>
            </a:pPr>
            <a:r>
              <a:t>• How it addresses the problem: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F4E79"/>
                </a:solidFill>
              </a:rPr>
              <a:t>– The Core Vulnerability: </a:t>
            </a:r>
            <a:r>
              <a:rPr sz="900">
                <a:solidFill>
                  <a:srgbClr val="1E293B"/>
                </a:solidFill>
              </a:rPr>
              <a:t>Forgers easily produce cards with plausible text and valid formats, but edit photos, dates, or stamps using digital manipulation software.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F4E79"/>
                </a:solidFill>
              </a:rPr>
              <a:t>– Traditional Blindspot: </a:t>
            </a:r>
            <a:r>
              <a:rPr sz="900">
                <a:solidFill>
                  <a:srgbClr val="1E293B"/>
                </a:solidFill>
              </a:rPr>
              <a:t>Basic OCR and rule validators only read text strings; they are blind to pixel cut seams, cloned seals, or recompression discrepancies.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F4E79"/>
                </a:solidFill>
              </a:rPr>
              <a:t>– The DocuShield Solution: </a:t>
            </a:r>
            <a:r>
              <a:rPr sz="900">
                <a:solidFill>
                  <a:srgbClr val="1E293B"/>
                </a:solidFill>
              </a:rPr>
              <a:t>Fuses optical text semantics with pixel-level physics. If an ID number looks plausible but the photo boundary shows cut seams or ELA anomalies, the document is flagged.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2999232"/>
            <a:ext cx="548640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300" b="1">
                <a:solidFill>
                  <a:srgbClr val="1A365D"/>
                </a:solidFill>
                <a:latin typeface="Segoe UI"/>
              </a:defRPr>
            </a:pPr>
            <a:r>
              <a:t>• Innovation and uniqueness of the solution: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0B981"/>
                </a:solidFill>
              </a:rPr>
              <a:t>✔ Multi-Family Evidence Fusion: </a:t>
            </a:r>
            <a:r>
              <a:rPr sz="900">
                <a:solidFill>
                  <a:srgbClr val="1E293B"/>
                </a:solidFill>
              </a:rPr>
              <a:t>Hierarchically corroborates 3 independent evidence families (Compression, Structural/Visual, Content/Identity) into a calibrated risk score [0–100%].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0B981"/>
                </a:solidFill>
              </a:rPr>
              <a:t>✔ “Why This Verdict?” Explainability: </a:t>
            </a:r>
            <a:r>
              <a:rPr sz="900">
                <a:solidFill>
                  <a:srgbClr val="1E293B"/>
                </a:solidFill>
              </a:rPr>
              <a:t>Generates human-readable evidence items (positive checks, cautions, critical indicators) to empower human border/KYC officers rather than opaque black-box AI.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0B981"/>
                </a:solidFill>
              </a:rPr>
              <a:t>✔ Deterministic &amp; Privacy-Preserving: </a:t>
            </a:r>
            <a:r>
              <a:rPr sz="900">
                <a:solidFill>
                  <a:srgbClr val="1E293B"/>
                </a:solidFill>
              </a:rPr>
              <a:t>Strictly local execution without requiring citizen PII storage or external government database simulation, operating securely offline or on-premise.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76672"/>
            <a:ext cx="11277295" cy="822960"/>
          </a:xfrm>
          <a:prstGeom prst="rect">
            <a:avLst/>
          </a:prstGeom>
          <a:solidFill>
            <a:srgbClr val="EEF2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b="1" sz="1100">
                <a:solidFill>
                  <a:srgbClr val="1A365D"/>
                </a:solidFill>
              </a:defRPr>
            </a:pPr>
            <a:r>
              <a:t>Calibrated Forensic Verdicts:  AUTHENTIC (≥80% | Risk ≤20%)  •  SUSPICIOUS (50–79% | Review)  •  FLAGGED (&lt;50% | Tampered)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Dedicated Image Forensics Suite: ELA (90% JPEG)  |  Copy-Move (ORB+RANSAC)  |  Typography Stroke Variance  |  EXIF Software Markers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22860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Team</a:t>
            </a:r>
          </a:p>
          <a:p>
            <a:pPr algn="ctr">
              <a:defRPr sz="1200" b="1">
                <a:solidFill>
                  <a:srgbClr val="1A365D"/>
                </a:solidFill>
                <a:latin typeface="Segoe UI"/>
              </a:defRPr>
            </a:pPr>
            <a:r>
              <a:t>Asterix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SIH-S-B1-148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"/>
            <a:ext cx="853409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TECHNICAL APPROACH</a:t>
            </a:r>
          </a:p>
        </p:txBody>
      </p:sp>
      <p:pic>
        <p:nvPicPr>
          <p:cNvPr id="4" name="Picture 3" descr="sih_2026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37160"/>
            <a:ext cx="1280160" cy="6336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6437376"/>
            <a:ext cx="6705295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6400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4E79"/>
                </a:solidFill>
                <a:latin typeface="Segoe UI"/>
              </a:defRPr>
            </a:pPr>
            <a:r>
              <a:t>• Technologies to be used (programming languages, frameworks, hardware):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950">
                <a:solidFill>
                  <a:srgbClr val="1A365D"/>
                </a:solidFill>
              </a:rPr>
              <a:t>✔ Core Language &amp; Backend: </a:t>
            </a:r>
            <a:r>
              <a:rPr sz="950">
                <a:solidFill>
                  <a:srgbClr val="1E293B"/>
                </a:solidFill>
              </a:rPr>
              <a:t>Python 3.11+, FastAPI (REST API), Uvicorn ASGI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82495"/>
            <a:ext cx="11277295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950">
                <a:solidFill>
                  <a:srgbClr val="1A365D"/>
                </a:solidFill>
              </a:rPr>
              <a:t>✔ OCR &amp; Text Parsing: </a:t>
            </a:r>
            <a:r>
              <a:rPr sz="950">
                <a:solidFill>
                  <a:srgbClr val="1E293B"/>
                </a:solidFill>
              </a:rPr>
              <a:t>EasyOCR (Neural Network Text Recognizer), PyTorch, Tesseract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66543"/>
            <a:ext cx="11277295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950">
                <a:solidFill>
                  <a:srgbClr val="1A365D"/>
                </a:solidFill>
              </a:rPr>
              <a:t>✔ Computer Vision &amp; Forensics: </a:t>
            </a:r>
            <a:r>
              <a:rPr sz="950">
                <a:solidFill>
                  <a:srgbClr val="1E293B"/>
                </a:solidFill>
              </a:rPr>
              <a:t>OpenCV (cv2), NumPy, Pillow (PIL), SciPy for Laplacian/ORB/ELA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50591"/>
            <a:ext cx="11277295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950">
                <a:solidFill>
                  <a:srgbClr val="1A365D"/>
                </a:solidFill>
              </a:rPr>
              <a:t>✔ Frontend &amp; UI Dashboard: </a:t>
            </a:r>
            <a:r>
              <a:rPr sz="950">
                <a:solidFill>
                  <a:srgbClr val="1E293B"/>
                </a:solidFill>
              </a:rPr>
              <a:t>React 18, Vite, Canvas SVG Inspector, Lucide Icons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39"/>
            <a:ext cx="11277295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/>
            <a:r>
              <a:rPr b="1" sz="950">
                <a:solidFill>
                  <a:srgbClr val="1A365D"/>
                </a:solidFill>
              </a:rPr>
              <a:t>✔ Hardware &amp; Deployment: </a:t>
            </a:r>
            <a:r>
              <a:rPr sz="950">
                <a:solidFill>
                  <a:srgbClr val="1E293B"/>
                </a:solidFill>
              </a:rPr>
              <a:t>Lightweight CPU (2 cores, 2GB RAM; optional GPU for high batch throughput)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4E79"/>
                </a:solidFill>
                <a:latin typeface="Segoe UI"/>
              </a:defRPr>
            </a:pPr>
            <a:r>
              <a:t>• Methodology and process for implementation (Flow Charts / Images / working prototype):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39312"/>
            <a:ext cx="201168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b="1" sz="950">
                <a:solidFill>
                  <a:srgbClr val="1A365D"/>
                </a:solidFill>
              </a:defRPr>
            </a:pPr>
            <a:r>
              <a:t>1. DOCUMENT UPLOAD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Supports Passport, Visa, Aadhaar, DL, Permit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3639312"/>
            <a:ext cx="210312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b="1" sz="950">
                <a:solidFill>
                  <a:srgbClr val="1A365D"/>
                </a:solidFill>
              </a:defRPr>
            </a:pPr>
            <a:r>
              <a:t>2. SECURITY &amp; INGESTION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Magic-byte check, size limit, traversal guard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639312"/>
            <a:ext cx="201168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b="1" sz="950">
                <a:solidFill>
                  <a:srgbClr val="1A365D"/>
                </a:solidFill>
              </a:defRPr>
            </a:pPr>
            <a:r>
              <a:t>3. CLASSIFICATION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Automatic MRZ/keyword detection or override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639312"/>
            <a:ext cx="2194560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b="1" sz="950">
                <a:solidFill>
                  <a:srgbClr val="1A365D"/>
                </a:solidFill>
              </a:defRPr>
            </a:pPr>
            <a:r>
              <a:t>4. DUAL-ENGINE FORENSICS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Synchronized text + pixel-level inspection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3639312"/>
            <a:ext cx="2039112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b="1" sz="950">
                <a:solidFill>
                  <a:srgbClr val="1A365D"/>
                </a:solidFill>
              </a:defRPr>
            </a:pPr>
            <a:r>
              <a:t>5. EVIDENCE FUSION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Hierarchical corroboration &amp; risk calibration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70832"/>
            <a:ext cx="5486400" cy="18288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ENGINE A: READ &amp; VALIDATE (NLP &amp; Checksum Logic)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EasyOCR Engine: </a:t>
            </a:r>
            <a:r>
              <a:rPr sz="850">
                <a:solidFill>
                  <a:srgbClr val="1E293B"/>
                </a:solidFill>
              </a:rPr>
              <a:t>Extracts raw text, word confidences, normalized bounding boxes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Document Field Schemas: </a:t>
            </a:r>
            <a:r>
              <a:rPr sz="850">
                <a:solidFill>
                  <a:srgbClr val="1E293B"/>
                </a:solidFill>
              </a:rPr>
              <a:t>Dedicated JSON schemas for all 5 document categories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Date Chronology Engine: </a:t>
            </a:r>
            <a:r>
              <a:rPr sz="850">
                <a:solidFill>
                  <a:srgbClr val="1E293B"/>
                </a:solidFill>
              </a:rPr>
              <a:t>Ensures DOB &lt; Issue Date &lt; Expiry Date and plausible age ranges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Deterministic Checksums: </a:t>
            </a:r>
            <a:r>
              <a:rPr sz="850">
                <a:solidFill>
                  <a:srgbClr val="1E293B"/>
                </a:solidFill>
              </a:rPr>
              <a:t>Verhoeff D5 dihedral group algorithm for 12-digit Indian UID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ICAO Doc 9303 MRZ Parser: </a:t>
            </a:r>
            <a:r>
              <a:rPr sz="850">
                <a:solidFill>
                  <a:srgbClr val="1E293B"/>
                </a:solidFill>
              </a:rPr>
              <a:t>Weighted 7-3-1 modulus-10 check digits for Passport &amp; Visa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4370832"/>
            <a:ext cx="5486400" cy="18288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b="1" sz="1100">
                <a:solidFill>
                  <a:srgbClr val="E11D48"/>
                </a:solidFill>
              </a:defRPr>
            </a:pPr>
            <a:r>
              <a:t>ENGINE B: CHECK IMAGE (Digital Forensic Detectors)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Error Level Analysis (ELA): </a:t>
            </a:r>
            <a:r>
              <a:rPr sz="850">
                <a:solidFill>
                  <a:srgbClr val="1E293B"/>
                </a:solidFill>
              </a:rPr>
              <a:t>90% JPEG recompression reveals localized cut seams &amp; photo swaps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Copy-Move Forgery Detection: </a:t>
            </a:r>
            <a:r>
              <a:rPr sz="850">
                <a:solidFill>
                  <a:srgbClr val="1E293B"/>
                </a:solidFill>
              </a:rPr>
              <a:t>ORB feature descriptors + RANSAC homography for cloned stamps/seals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Typography &amp; Sharpness: </a:t>
            </a:r>
            <a:r>
              <a:rPr sz="850">
                <a:solidFill>
                  <a:srgbClr val="1E293B"/>
                </a:solidFill>
              </a:rPr>
              <a:t>Laplacian stroke variance detects spliced text and font inconsistencies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Metadata &amp; EXIF Forensics: </a:t>
            </a:r>
            <a:r>
              <a:rPr sz="850">
                <a:solidFill>
                  <a:srgbClr val="1E293B"/>
                </a:solidFill>
              </a:rPr>
              <a:t>Detects manipulation software traces (Photoshop, Canva, GIMP)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A365D"/>
                </a:solidFill>
              </a:rPr>
              <a:t>• Document Condition Analyzer: </a:t>
            </a:r>
            <a:r>
              <a:rPr sz="850">
                <a:solidFill>
                  <a:srgbClr val="1E293B"/>
                </a:solidFill>
              </a:rPr>
              <a:t>Calculates blur variance, resolution adequacy, and JPEG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22860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Team</a:t>
            </a:r>
          </a:p>
          <a:p>
            <a:pPr algn="ctr">
              <a:defRPr sz="1200" b="1">
                <a:solidFill>
                  <a:srgbClr val="1A365D"/>
                </a:solidFill>
                <a:latin typeface="Segoe UI"/>
              </a:defRPr>
            </a:pPr>
            <a:r>
              <a:t>Asterix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SIH-S-B1-148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"/>
            <a:ext cx="853409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FEASIBILITY AND VIABILITY</a:t>
            </a:r>
          </a:p>
        </p:txBody>
      </p:sp>
      <p:pic>
        <p:nvPicPr>
          <p:cNvPr id="4" name="Picture 3" descr="sih_2026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37160"/>
            <a:ext cx="1280160" cy="6336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6437376"/>
            <a:ext cx="6705295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6400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F4E79"/>
                </a:solidFill>
                <a:latin typeface="Segoe UI"/>
              </a:defRPr>
            </a:pPr>
            <a:r>
              <a:t>• Analysis of the feasibility of the idea (Validated via Live Working Prototype):</a:t>
            </a:r>
          </a:p>
        </p:txBody>
      </p:sp>
      <p:pic>
        <p:nvPicPr>
          <p:cNvPr id="9" name="Picture 8" descr="panel_g_nat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5440680" cy="3017520"/>
          </a:xfrm>
          <a:prstGeom prst="rect">
            <a:avLst/>
          </a:prstGeom>
        </p:spPr>
      </p:pic>
      <p:pic>
        <p:nvPicPr>
          <p:cNvPr id="10" name="Picture 9" descr="panel_f_natu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298448"/>
            <a:ext cx="5440680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334256"/>
            <a:ext cx="5440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Genuine Specimen: AUTHENTIC (Score: 99.5% | Risk: 0.5% | Clean ELA &amp; Verhoeff Valid)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4334256"/>
            <a:ext cx="5440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Tampered Specimen: SUSPICIOUS (Score: 52.0% | Risk: 48.0% | ELA Strong 85% Cut-Seam Flagged)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53712"/>
            <a:ext cx="11277295" cy="15361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b="1" sz="1050">
                <a:solidFill>
                  <a:srgbClr val="1A365D"/>
                </a:solidFill>
              </a:defRPr>
            </a:pPr>
            <a:r>
              <a:t>• Potential challenges and risks: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EF4444"/>
                </a:solidFill>
              </a:rPr>
              <a:t>– Physical Print-and-Scan Replays: </a:t>
            </a:r>
            <a:r>
              <a:rPr sz="850">
                <a:solidFill>
                  <a:srgbClr val="1E293B"/>
                </a:solidFill>
              </a:rPr>
              <a:t>High-resolution printed &amp; rescanned cards can mask JPEG compression discrepancies.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EF4444"/>
                </a:solidFill>
              </a:rPr>
              <a:t>– Camera Glare &amp; Shadows: </a:t>
            </a:r>
            <a:r>
              <a:rPr sz="850">
                <a:solidFill>
                  <a:srgbClr val="1E293B"/>
                </a:solidFill>
              </a:rPr>
              <a:t>Extreme reflections on laminated plastic cards degrade OCR token clarity.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EF4444"/>
                </a:solidFill>
              </a:rPr>
              <a:t>– Absence of Government DB: </a:t>
            </a:r>
            <a:r>
              <a:rPr sz="850">
                <a:solidFill>
                  <a:srgbClr val="1E293B"/>
                </a:solidFill>
              </a:rPr>
              <a:t>Fabricated identities with completely plausible details cannot be validated without central registry access.</a:t>
            </a:r>
          </a:p>
          <a:p>
            <a:pPr>
              <a:spcBef>
                <a:spcPts val="300"/>
              </a:spcBef>
              <a:defRPr b="1" sz="1050">
                <a:solidFill>
                  <a:srgbClr val="1A365D"/>
                </a:solidFill>
              </a:defRPr>
            </a:pPr>
            <a:r>
              <a:t>• Strategies for overcoming these challenges: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10B981"/>
                </a:solidFill>
              </a:rPr>
              <a:t>✔ Multi-Metric Forensics: </a:t>
            </a:r>
            <a:r>
              <a:rPr sz="850">
                <a:solidFill>
                  <a:srgbClr val="1E293B"/>
                </a:solidFill>
              </a:rPr>
              <a:t>Laplacian stroke variance &amp; edge density inspect physical printing sharpness alongside compression ELA.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10B981"/>
                </a:solidFill>
              </a:rPr>
              <a:t>✔ Optical Disambiguation: </a:t>
            </a:r>
            <a:r>
              <a:rPr sz="850">
                <a:solidFill>
                  <a:srgbClr val="1E293B"/>
                </a:solidFill>
              </a:rPr>
              <a:t>Heuristic OCR substitution rules (8↔6, O↔0) maintain mathematical checksum accuracy under glare.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10B981"/>
                </a:solidFill>
              </a:rPr>
              <a:t>✔ Human-in-the-Loop Review: </a:t>
            </a:r>
            <a:r>
              <a:rPr sz="850">
                <a:solidFill>
                  <a:srgbClr val="1E293B"/>
                </a:solidFill>
              </a:rPr>
              <a:t>System flags ambiguous inputs as SUSPICIOUS with clear diagnostic evidence for human officer decision-making.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44768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Validated on 20-Document Controlled Testbed (10 Genuine + 10 Fake) | 98/98 Automated Tests Passed | Zero False Positives on Authentic 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22860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Team</a:t>
            </a:r>
          </a:p>
          <a:p>
            <a:pPr algn="ctr">
              <a:defRPr sz="1200" b="1">
                <a:solidFill>
                  <a:srgbClr val="1A365D"/>
                </a:solidFill>
                <a:latin typeface="Segoe UI"/>
              </a:defRPr>
            </a:pPr>
            <a:r>
              <a:t>Asterix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SIH-S-B1-148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"/>
            <a:ext cx="853409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IMPACT AND BENEFITS</a:t>
            </a:r>
          </a:p>
        </p:txBody>
      </p:sp>
      <p:pic>
        <p:nvPicPr>
          <p:cNvPr id="4" name="Picture 3" descr="sih_2026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37160"/>
            <a:ext cx="1280160" cy="6336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6437376"/>
            <a:ext cx="6705295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6400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60120"/>
            <a:ext cx="11277295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300" b="1">
                <a:solidFill>
                  <a:srgbClr val="1F4E79"/>
                </a:solidFill>
                <a:latin typeface="Segoe UI"/>
              </a:defRPr>
            </a:pPr>
            <a:r>
              <a:t>• Potential impact on the target audience: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A365D"/>
                </a:solidFill>
              </a:rPr>
              <a:t>– Banks &amp; NBFCs → </a:t>
            </a:r>
            <a:r>
              <a:rPr sz="950">
                <a:solidFill>
                  <a:srgbClr val="1E293B"/>
                </a:solidFill>
              </a:rPr>
              <a:t>High-throughput automated customer KYC; eliminates loan fraud from forged salary slips, fake PAN, and fabricated Aadhaar cards.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A365D"/>
                </a:solidFill>
              </a:rPr>
              <a:t>– Telecom Sector → </a:t>
            </a:r>
            <a:r>
              <a:rPr sz="950">
                <a:solidFill>
                  <a:srgbClr val="1E293B"/>
                </a:solidFill>
              </a:rPr>
              <a:t>Real-time subscriber identity verification at point-of-sale for SIM allocation, shutting down synthetic identity rings.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A365D"/>
                </a:solidFill>
              </a:rPr>
              <a:t>– Gig Platforms &amp; Fleet Operators → </a:t>
            </a:r>
            <a:r>
              <a:rPr sz="950">
                <a:solidFill>
                  <a:srgbClr val="1E293B"/>
                </a:solidFill>
              </a:rPr>
              <a:t>Instant, reliable driving licence and national ID verification for driver-partner and delivery agent onboarding.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A365D"/>
                </a:solidFill>
              </a:rPr>
              <a:t>– Government Agencies &amp; Welfare → </a:t>
            </a:r>
            <a:r>
              <a:rPr sz="950">
                <a:solidFill>
                  <a:srgbClr val="1E293B"/>
                </a:solidFill>
              </a:rPr>
              <a:t>Fast citizen verification for direct benefit transfers, welfare distribution, and immigration transit checkpoints.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A365D"/>
                </a:solidFill>
              </a:rPr>
              <a:t>– FinTech &amp; Digital Onboarding → </a:t>
            </a:r>
            <a:r>
              <a:rPr sz="950">
                <a:solidFill>
                  <a:srgbClr val="1E293B"/>
                </a:solidFill>
              </a:rPr>
              <a:t>Frictionless, privacy-preserving document fraud screening operating with sub-1.5s latency per document.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20440"/>
            <a:ext cx="11277295" cy="2697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300" b="1">
                <a:solidFill>
                  <a:srgbClr val="1F4E79"/>
                </a:solidFill>
                <a:latin typeface="Segoe UI"/>
              </a:defRPr>
            </a:pPr>
            <a:r>
              <a:t>• Benefits of the solution (social, economic, environmental, etc.):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10B981"/>
                </a:solidFill>
              </a:rPr>
              <a:t>✔ Economic Benefits: </a:t>
            </a:r>
            <a:r>
              <a:rPr sz="950">
                <a:solidFill>
                  <a:srgbClr val="1E293B"/>
                </a:solidFill>
              </a:rPr>
              <a:t>Cuts manual screening overhead by &gt;80%; prevents multi-crore fraud losses across financial institutions; sub-1.5s processing eliminates server scaling costs.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10B981"/>
                </a:solidFill>
              </a:rPr>
              <a:t>✔ Social &amp; Ethical Benefits: </a:t>
            </a:r>
            <a:r>
              <a:rPr sz="950">
                <a:solidFill>
                  <a:srgbClr val="1E293B"/>
                </a:solidFill>
              </a:rPr>
              <a:t>Protects legitimate citizens against identity cloning; completely explainable verdict avoids algorithmic bias; strictly adheres to data privacy by retaining zero citizen PII.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10B981"/>
                </a:solidFill>
              </a:rPr>
              <a:t>✔ Operational Efficiency: </a:t>
            </a:r>
            <a:r>
              <a:rPr sz="950">
                <a:solidFill>
                  <a:srgbClr val="1E293B"/>
                </a:solidFill>
              </a:rPr>
              <a:t>Automated hierarchical evidence fusion reduces human reviewer fatigue by automatically verifying clean documents and highlighting exact tampering hotspots on suspicious cards.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10B981"/>
                </a:solidFill>
              </a:rPr>
              <a:t>✔ Environmental &amp; Resource Sustainability: </a:t>
            </a:r>
            <a:r>
              <a:rPr sz="950">
                <a:solidFill>
                  <a:srgbClr val="1E293B"/>
                </a:solidFill>
              </a:rPr>
              <a:t>Lightweight, edge-deployable architecture requires minimal power and standard CPU hardware, avoiding carbon-heavy multi-billion parameter AI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9184" y="22860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Team</a:t>
            </a:r>
          </a:p>
          <a:p>
            <a:pPr algn="ctr">
              <a:defRPr sz="1200" b="1">
                <a:solidFill>
                  <a:srgbClr val="1A365D"/>
                </a:solidFill>
                <a:latin typeface="Segoe UI"/>
              </a:defRPr>
            </a:pPr>
            <a:r>
              <a:t>Asterix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SIH-S-B1-148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"/>
            <a:ext cx="853409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RESEARCH AND REFERENCES</a:t>
            </a:r>
          </a:p>
        </p:txBody>
      </p:sp>
      <p:pic>
        <p:nvPicPr>
          <p:cNvPr id="4" name="Picture 3" descr="sih_2026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37160"/>
            <a:ext cx="1280160" cy="6336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6437376"/>
            <a:ext cx="6705295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37376"/>
            <a:ext cx="6400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Segoe UI"/>
              </a:defRPr>
            </a:pPr>
            <a:r>
              <a:t>• Details / Links of the reference and research work: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7729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spcBef>
                <a:spcPts val="500"/>
              </a:spcBef>
            </a:pPr>
            <a:r>
              <a:rPr b="1" sz="1000">
                <a:solidFill>
                  <a:srgbClr val="1A365D"/>
                </a:solidFill>
              </a:rPr>
              <a:t>1. Verhoeff, J. (1969). </a:t>
            </a:r>
            <a:r>
              <a:rPr sz="950" b="1">
                <a:solidFill>
                  <a:srgbClr val="1F4E79"/>
                </a:solidFill>
              </a:rPr>
              <a:t>Error Detecting Decimal Codes. Mathematical Centre Tracts 29. 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E293B"/>
                </a:solidFill>
              </a:rPr>
              <a:t>– Foundational mathematical proof of the D5 dihedral group checksum algorithm used for Indian 12-digit Aadhaar UID verification with optical confusion tolerance.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1A365D"/>
                </a:solidFill>
              </a:rPr>
              <a:t>2. Fischler, M. A., &amp; Bolles, R. C. (1981). </a:t>
            </a:r>
            <a:r>
              <a:rPr sz="950" b="1">
                <a:solidFill>
                  <a:srgbClr val="1F4E79"/>
                </a:solidFill>
              </a:rPr>
              <a:t>Random Sample Consensus: A paradigm for model fitting. Communications of the ACM, 24(6), 381–395. 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E293B"/>
                </a:solidFill>
              </a:rPr>
              <a:t>– Core algorithm utilized in DocuShield's copy-move forgery detector to estimate geometric homography and eliminate false-positive keypoint clusters. DOI: 10.1145/358669.358692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1A365D"/>
                </a:solidFill>
              </a:rPr>
              <a:t>3. Zhu, Y., Shen, C., &amp; Zhao, H. (2015). </a:t>
            </a:r>
            <a:r>
              <a:rPr sz="950" b="1">
                <a:solidFill>
                  <a:srgbClr val="1F4E79"/>
                </a:solidFill>
              </a:rPr>
              <a:t>Copy-move forgery detection based on scaled ORB. Multimedia Tools and Applications. 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E293B"/>
                </a:solidFill>
              </a:rPr>
              <a:t>– Technique adapted for scale-invariant ORB keypoint extraction and spatial displacement clustering for digital document seal and signature verification. DOI: 10.1007/s11042-014-2431-2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1A365D"/>
                </a:solidFill>
              </a:rPr>
              <a:t>4. Warif, N. B. A., Wahab, A. W. A., et al. (2015). </a:t>
            </a:r>
            <a:r>
              <a:rPr sz="950" b="1">
                <a:solidFill>
                  <a:srgbClr val="1F4E79"/>
                </a:solidFill>
              </a:rPr>
              <a:t>An evaluation of Error Level Analysis in image forensics. IEEE International Conference on Systems, Engineering &amp; Technology. 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E293B"/>
                </a:solidFill>
              </a:rPr>
              <a:t>– Theoretical and empirical validation of 90% JPEG recompression error grids for identifying cut-and-paste tampering seams and font splicing. DOI: 10.1109/ICSEngT.2015.7412439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1A365D"/>
                </a:solidFill>
              </a:rPr>
              <a:t>5. Sudiatmika, I. B. K., Rahman, M. A., et al. (2019). </a:t>
            </a:r>
            <a:r>
              <a:rPr sz="950" b="1">
                <a:solidFill>
                  <a:srgbClr val="1F4E79"/>
                </a:solidFill>
              </a:rPr>
              <a:t>Image forgery detection using error level analysis and deep learning. TELKOMNIKA, 17(2), 653–659. 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E293B"/>
                </a:solidFill>
              </a:rPr>
              <a:t>– Demonstrates the efficacy of localized ELA feature maps for document tampering detection and edge discrepancy classification. DOI: 10.12928/TELKOMNIKA.v17i2.8976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1A365D"/>
                </a:solidFill>
              </a:rPr>
              <a:t>6. Vaidya, A., &amp; Awasthi, A. (2025). </a:t>
            </a:r>
            <a:r>
              <a:rPr sz="950" b="1">
                <a:solidFill>
                  <a:srgbClr val="1F4E79"/>
                </a:solidFill>
              </a:rPr>
              <a:t>Zero-to-One IDV: A Conceptual Model for AI-Powered Identity Verification. arXiv:2503.08734 [cs.CV]. 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E293B"/>
                </a:solidFill>
              </a:rPr>
              <a:t>– Architectural reference for modern confidence-aware identity document screening and multi-family forensic corroboration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